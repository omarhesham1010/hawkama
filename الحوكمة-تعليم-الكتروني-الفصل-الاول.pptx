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46" r:id="rId2"/>
    <p:sldId id="547" r:id="rId3"/>
    <p:sldId id="507" r:id="rId4"/>
    <p:sldId id="535" r:id="rId5"/>
    <p:sldId id="548" r:id="rId6"/>
    <p:sldId id="54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1A6EF-3322-460F-9A5B-822CD198733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A24FE-487C-4F16-B318-01EC71FCC2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87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C0D0-A204-A6F6-583F-9D665567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00EA9-E86C-1E82-61DE-07C7900A5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9C2D4-B2E5-014A-970C-8413007E9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3DBA7-A70D-7C6A-C623-9F7A92846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5CC5D-2A3E-E346-B73B-DFA9DC85AFA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89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A21FE-C674-E184-7AAD-B1265FE4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D678E-9DC9-68F3-920B-53EB0EFCA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E7A30-A847-7D2F-D1C7-95D765525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AD501-37AC-7C75-2232-16F89B901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5CC5D-2A3E-E346-B73B-DFA9DC85AFA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6795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DB7E-6173-860A-DBE5-D67FD288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AE1C6-DD57-2D3F-6062-CC8F54E5F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DE8A3-E9CC-C44E-7E39-0E0A07203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CDA56-A134-16B9-0FE9-7DA4D5186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5CC5D-2A3E-E346-B73B-DFA9DC85AFA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431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AC391-2EF0-75FE-61DB-76C16E20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C3289-CB26-2556-4AE7-DF988109B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454E0-CCA1-7E76-BD0D-7D09A173E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9D62-BAA9-363B-28A6-DAAD5E11D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5CC5D-2A3E-E346-B73B-DFA9DC85AFA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127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EA0D-F8A9-535D-425E-36C5BAEE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FE0AB-FB04-9358-DB47-E81C1B315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2B993-DA7C-206D-2D3A-CAC936118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4005E-DCA6-B30A-C467-AF79CDBE8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5CC5D-2A3E-E346-B73B-DFA9DC85AFA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414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D47C-D9FB-FDB2-F06B-6F6F74EEF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B3CB9-9A4F-413A-FD83-5F91D3C5B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3C56B-97ED-D5A4-1F6A-F3C4A915A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E400C-3487-E24D-104C-415D4CA88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5CC5D-2A3E-E346-B73B-DFA9DC85AFA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571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A0187-07CE-E012-5076-299C4A31A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A776D-4A10-17B1-48DF-6BD255792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C7072-0D14-D5FA-0619-D15F526D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EB6BF-AE1B-392A-36A5-097EAEF0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2255-5472-391D-6E23-1DEED293A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2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72BB-2FE3-BC4E-B4B6-BC029DFF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8104B-9F4B-A674-55CB-4BE70C96E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BC081-BF3A-D4D3-CE18-34916844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82B3F-28A8-9305-AD4F-66B1C246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001D4-CED6-1A12-C94D-5393D348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9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5E17-AA70-091D-3E48-86AD95D0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5FAA5-5032-EAA8-C0B4-F1FE94B6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3F4E8-28FA-C37D-34BE-A2769B11C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0B3D2-E581-BA0C-D692-3E6EC927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7665D-2639-175F-B4A8-7F4B8C175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91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6B82D-F4F5-F732-C5F4-F9D23B02C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51A78-00AB-F570-DB54-6E671F7BC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8A134-4E35-C28A-298D-08331361B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BC1C1-BDE8-A421-61D2-2475E970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4DDC6-8CB6-F26A-9360-AD4613BD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2E546-AC81-773A-9854-90EA3AED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8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1689-F16C-63A8-6C97-AEC45D83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6FD97-6658-D039-AB03-7DF3EA90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BB034A-DEAD-CAAF-42F2-4ACFF3C8F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587A2-2E90-63E4-983C-9D2D8FDCB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B15DE-7E96-6BE7-DFBD-15FC5AF65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1401F-5EDF-C115-13C5-7973A27F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D14F74-F698-BB41-6FD1-10C6E636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1CA83-FF20-5348-066C-7D4158E1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2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57072-AF5F-E84B-CC8F-DD38558D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13131-813E-8F04-4B3E-A72EFFD5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54BBE4-2EAA-6571-1ECD-8118ACA8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04088-4198-CCC1-63F3-B1914881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0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2A045E-C1EF-EE4F-4A28-717FB5E0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14593-2724-716D-F5CD-1F40BC0B6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86AF-C16E-22A7-4FD4-AE7890CA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5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6626-73CE-2E44-4E57-C9ABE836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62EA0-FE7C-E489-F299-3E4B0E623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1A538-F993-3851-F0EF-4C91E1793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14C7C-FDE2-FC76-F723-7A72C5BB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3E17C-BC9D-7E9E-509D-D6860487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45D4E-337C-C10A-39B1-67FEBC7D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9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22D22-ADA4-6899-AF3E-6F5BB97F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38098-6E1D-CB1D-4DE6-683C93B18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3AD91-6EA5-FEFD-A865-CA66F26AC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71DCA-EB7F-E9AE-74EF-66DD0BF76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79BA5-6BB0-4B1D-F5AD-7D088F6E0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7B650-7539-525B-77DD-4DC8195C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7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C6A0-86B8-1FFD-2EBA-9A58E351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DACDA-675B-B717-20FD-FE5832C67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9A22E-279B-FC49-158A-349BFC3B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BA217-DF8F-F939-AA49-92CF0540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FBCCA-612E-E7F5-DB61-F05C1567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15A95D-C2D2-5616-1603-9FC22C34C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09A914-A211-C759-C7A0-9E7FE2412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F4B41-E9E3-04F7-5471-E669A549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541DD-9A8B-6132-D5A4-AC82A362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186AA-4352-1197-7C84-64A0EC6D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87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A4E1253F-FE49-4CF8-A07F-D44099DE199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flipV="1">
            <a:off x="3336462" y="4475906"/>
            <a:ext cx="8855538" cy="238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205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714F3A-96DC-55DE-7C04-BB90C5B6A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8F502-CD31-B107-62C3-100DA99E3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07D29-680E-04E2-79FB-FC0870CD1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E68F7-CDFF-4D94-91E3-3F9DE51F5C7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2975-69F5-4A8C-98F3-82413860B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BBD65-8ACF-E5D4-A599-66D7FD946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85DC2-A614-4C06-9907-F7C7FE537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1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3FFD-2255-5A19-C7D8-9AAD2FD3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10B7483-56D2-9018-CE80-15E85B2C68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163" y="1489"/>
          <a:ext cx="1489" cy="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10B7483-56D2-9018-CE80-15E85B2C68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63" y="1489"/>
                        <a:ext cx="1489" cy="1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DAA0AD-7E76-8674-398F-8E1F806D0AB4}"/>
              </a:ext>
            </a:extLst>
          </p:cNvPr>
          <p:cNvSpPr txBox="1">
            <a:spLocks/>
          </p:cNvSpPr>
          <p:nvPr/>
        </p:nvSpPr>
        <p:spPr>
          <a:xfrm>
            <a:off x="5495081" y="159153"/>
            <a:ext cx="6389688" cy="52322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r" defTabSz="685800" rtl="1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3"/>
                </a:solidFill>
                <a:latin typeface="+mn-lt"/>
                <a:ea typeface="+mn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ar-EG" sz="2800" dirty="0">
                <a:solidFill>
                  <a:srgbClr val="008658"/>
                </a:solidFill>
                <a:latin typeface="Calibri" pitchFamily="34" charset="0"/>
                <a:cs typeface="Calibri" pitchFamily="34" charset="-120"/>
              </a:rPr>
              <a:t>نماذج وهياكل الحوكمة الصحية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5B413EB-ABFC-C42D-3B26-B40DD8AA4346}"/>
              </a:ext>
            </a:extLst>
          </p:cNvPr>
          <p:cNvGrpSpPr/>
          <p:nvPr/>
        </p:nvGrpSpPr>
        <p:grpSpPr>
          <a:xfrm>
            <a:off x="426720" y="1341120"/>
            <a:ext cx="11338560" cy="4693920"/>
            <a:chOff x="426720" y="1341120"/>
            <a:chExt cx="11338560" cy="4693920"/>
          </a:xfrm>
        </p:grpSpPr>
        <p:sp>
          <p:nvSpPr>
            <p:cNvPr id="5" name="Shape 3"/>
            <p:cNvSpPr/>
            <p:nvPr/>
          </p:nvSpPr>
          <p:spPr>
            <a:xfrm>
              <a:off x="8148320" y="13411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8148320" y="1341120"/>
              <a:ext cx="3616960" cy="73152"/>
            </a:xfrm>
            <a:prstGeom prst="rect">
              <a:avLst/>
            </a:prstGeom>
            <a:solidFill>
              <a:srgbClr val="2E7D52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1131296" y="1487424"/>
              <a:ext cx="463296" cy="463296"/>
            </a:xfrm>
            <a:prstGeom prst="ellipse">
              <a:avLst/>
            </a:prstGeom>
            <a:solidFill>
              <a:srgbClr val="2E7D52"/>
            </a:solidFill>
            <a:ln w="12700">
              <a:solidFill>
                <a:srgbClr val="2E7D52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1131296" y="14996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1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8270240" y="14630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2E7D5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تعريف الحوكمة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8270240" y="20116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8270240" y="20970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الإطار الذي يحدد توزيع الأدوار والمسؤوليات بين مجلس الإدارة، الإدارة التنفيذية، واللجان المتخصصة مع آليات المساءلة والشفافية.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4287520" y="13411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4287520" y="1341120"/>
              <a:ext cx="3616960" cy="73152"/>
            </a:xfrm>
            <a:prstGeom prst="rect">
              <a:avLst/>
            </a:prstGeom>
            <a:solidFill>
              <a:srgbClr val="2E7D52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7270496" y="1487424"/>
              <a:ext cx="463296" cy="463296"/>
            </a:xfrm>
            <a:prstGeom prst="ellipse">
              <a:avLst/>
            </a:prstGeom>
            <a:solidFill>
              <a:srgbClr val="2E7D52"/>
            </a:solidFill>
            <a:ln w="12700">
              <a:solidFill>
                <a:srgbClr val="2E7D52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270496" y="14996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2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4409440" y="14630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2E7D5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نموذج ثلاثة خطوط دفاع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409440" y="20116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4409440" y="20970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الخط الأول: الإدارة التنفيذية (التنفيذ اليومي) </a:t>
              </a:r>
            </a:p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الخط الثاني: إدارة المخاطر والامتثال </a:t>
              </a:r>
            </a:p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الخط الثالث: التدقيق الداخلي المستقل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26720" y="13411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426720" y="1341120"/>
              <a:ext cx="3616960" cy="73152"/>
            </a:xfrm>
            <a:prstGeom prst="rect">
              <a:avLst/>
            </a:prstGeom>
            <a:solidFill>
              <a:srgbClr val="2E7D52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3409696" y="1487424"/>
              <a:ext cx="463296" cy="463296"/>
            </a:xfrm>
            <a:prstGeom prst="ellipse">
              <a:avLst/>
            </a:prstGeom>
            <a:solidFill>
              <a:srgbClr val="2E7D52"/>
            </a:solidFill>
            <a:ln w="12700">
              <a:solidFill>
                <a:srgbClr val="2E7D52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3409696" y="14996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3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548640" y="14630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2E7D5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مجلس الإدارة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" y="20116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48640" y="20970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اعتماد الاستراتيجية، الإشراف على الأداء، ضمان الامتثال، حماية حقوق أصحاب المصلحة – مجلس يوجه ويشرف لا يُشغل.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8148320" y="37795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8148320" y="3779520"/>
              <a:ext cx="3616960" cy="73152"/>
            </a:xfrm>
            <a:prstGeom prst="rect">
              <a:avLst/>
            </a:prstGeom>
            <a:solidFill>
              <a:srgbClr val="2E7D52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11131296" y="3925824"/>
              <a:ext cx="463296" cy="463296"/>
            </a:xfrm>
            <a:prstGeom prst="ellipse">
              <a:avLst/>
            </a:prstGeom>
            <a:solidFill>
              <a:srgbClr val="2E7D52"/>
            </a:solidFill>
            <a:ln w="12700">
              <a:solidFill>
                <a:srgbClr val="2E7D52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1131296" y="39380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4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8270240" y="39014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2E7D5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اللجان التابعة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8270240" y="44500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8270240" y="45354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لجنة الجودة وسلامة المرضى: مراجعة نسب الأخطاء الجسيمة وخطط التحسين.</a:t>
              </a:r>
            </a:p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لجنة الامتثال والأخلاقيات: برامج الامتثال وتضارب المصالح.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4287520" y="37795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4287520" y="3779520"/>
              <a:ext cx="3616960" cy="73152"/>
            </a:xfrm>
            <a:prstGeom prst="rect">
              <a:avLst/>
            </a:prstGeom>
            <a:solidFill>
              <a:srgbClr val="2E7D52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7270496" y="3925824"/>
              <a:ext cx="463296" cy="463296"/>
            </a:xfrm>
            <a:prstGeom prst="ellipse">
              <a:avLst/>
            </a:prstGeom>
            <a:solidFill>
              <a:srgbClr val="2E7D52"/>
            </a:solidFill>
            <a:ln w="12700">
              <a:solidFill>
                <a:srgbClr val="2E7D52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7270496" y="39380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5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4409440" y="39014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2E7D5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مصفوفة الصلاحيات DoA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4409440" y="44500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4409440" y="45354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وثيقة تحدد من يملك القرار، بأي مستوى، وأي حدود مالية أو تنظيمية – تضبط القرار وتوضح المساءلة.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26720" y="37795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26720" y="3779520"/>
              <a:ext cx="3616960" cy="73152"/>
            </a:xfrm>
            <a:prstGeom prst="rect">
              <a:avLst/>
            </a:prstGeom>
            <a:solidFill>
              <a:srgbClr val="2E7D52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3409696" y="3925824"/>
              <a:ext cx="463296" cy="463296"/>
            </a:xfrm>
            <a:prstGeom prst="ellipse">
              <a:avLst/>
            </a:prstGeom>
            <a:solidFill>
              <a:srgbClr val="2E7D52"/>
            </a:solidFill>
            <a:ln w="12700">
              <a:solidFill>
                <a:srgbClr val="2E7D52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3409696" y="39380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6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548640" y="39014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2E7D5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ملخص العلاقة التكاملية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548640" y="44500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548640" y="45354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مجلس الإدارة يوجه - اللجان تحلل وتوصي -مصفوفة الصلاحيات تضبط - السياسات تحدد الالتزام - الإجراءات تترجمه ممارسةً.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577150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DAD8-7B90-1E03-9DE9-C89ED90F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71A6E5-EC39-37BF-8936-6ABE9D9D01B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163" y="1489"/>
          <a:ext cx="1489" cy="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71A6E5-EC39-37BF-8936-6ABE9D9D01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63" y="1489"/>
                        <a:ext cx="1489" cy="1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9118AF-573D-3F00-27FE-8F4DF3F1D796}"/>
              </a:ext>
            </a:extLst>
          </p:cNvPr>
          <p:cNvSpPr txBox="1">
            <a:spLocks/>
          </p:cNvSpPr>
          <p:nvPr/>
        </p:nvSpPr>
        <p:spPr>
          <a:xfrm>
            <a:off x="5495081" y="159153"/>
            <a:ext cx="6389688" cy="52322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r" defTabSz="685800" rtl="1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3"/>
                </a:solidFill>
                <a:latin typeface="+mn-lt"/>
                <a:ea typeface="+mn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ar-EG" sz="2800" dirty="0">
                <a:solidFill>
                  <a:srgbClr val="008658"/>
                </a:solidFill>
                <a:latin typeface="Calibri" pitchFamily="34" charset="0"/>
                <a:cs typeface="Calibri" pitchFamily="34" charset="-120"/>
              </a:rPr>
              <a:t>تطوير وتطبيق أطر الحوكمة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068EE4-AC20-03DE-927D-A1ACFA4624F7}"/>
              </a:ext>
            </a:extLst>
          </p:cNvPr>
          <p:cNvGrpSpPr/>
          <p:nvPr/>
        </p:nvGrpSpPr>
        <p:grpSpPr>
          <a:xfrm>
            <a:off x="434109" y="1446415"/>
            <a:ext cx="11268364" cy="4053840"/>
            <a:chOff x="341376" y="1280160"/>
            <a:chExt cx="11728704" cy="4053840"/>
          </a:xfrm>
        </p:grpSpPr>
        <p:sp>
          <p:nvSpPr>
            <p:cNvPr id="5" name="Shape 3"/>
            <p:cNvSpPr/>
            <p:nvPr/>
          </p:nvSpPr>
          <p:spPr>
            <a:xfrm>
              <a:off x="341376" y="1280160"/>
              <a:ext cx="5754624" cy="40538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28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341376" y="1280160"/>
              <a:ext cx="5754624" cy="633984"/>
            </a:xfrm>
            <a:prstGeom prst="rect">
              <a:avLst/>
            </a:prstGeom>
            <a:solidFill>
              <a:srgbClr val="2E7D52"/>
            </a:solidFill>
            <a:ln/>
          </p:spPr>
          <p:txBody>
            <a:bodyPr/>
            <a:lstStyle/>
            <a:p>
              <a:endParaRPr lang="ar-EG" sz="28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463296" y="1316736"/>
              <a:ext cx="5510784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مكونات إطار الحوكمة الفعّال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463296" y="2104414"/>
              <a:ext cx="5510784" cy="29016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مجلس الإدارة: يوجه ويشرف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اللجان المتخصصة: تحلل وتوصي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مصفوفة الصلاحيات: تضبط القرار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السياسات: تحدد الالتزام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الإجراءات: تترجم الالتزام إلى ممارسة يومية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6315456" y="1280160"/>
              <a:ext cx="5754624" cy="40538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28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6315456" y="1280160"/>
              <a:ext cx="5754624" cy="633984"/>
            </a:xfrm>
            <a:prstGeom prst="rect">
              <a:avLst/>
            </a:prstGeom>
            <a:solidFill>
              <a:srgbClr val="2E7D52"/>
            </a:solidFill>
            <a:ln/>
          </p:spPr>
          <p:txBody>
            <a:bodyPr/>
            <a:lstStyle/>
            <a:p>
              <a:endParaRPr lang="ar-EG" sz="28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437376" y="1316736"/>
              <a:ext cx="5510784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خطوات بناء الإطار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437376" y="2104414"/>
              <a:ext cx="5510784" cy="290169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تحديد القيم والأهداف المؤسسية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وضع السياسات وآليات الامتثال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تصميم هياكل المساءلة والشفافية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إدارة البيانات الصحية بمسؤولية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إدارة الموارد البشرية بكفاءة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189" indent="-457189" algn="r" rtl="1">
                <a:spcAft>
                  <a:spcPts val="800"/>
                </a:spcAft>
                <a:buSzPct val="100000"/>
                <a:buChar char="•"/>
              </a:pPr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التطبيق عبر تدريب مستمر وتقييم دوري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484691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E5652-2E11-8045-D6DA-E727A537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C20A5A9-0E64-BC60-5A01-815209FC6A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163" y="1489"/>
          <a:ext cx="1489" cy="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C20A5A9-0E64-BC60-5A01-815209FC6A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63" y="1489"/>
                        <a:ext cx="1489" cy="1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57171A8C-A793-A043-53A4-68DC7DB54A47}"/>
              </a:ext>
            </a:extLst>
          </p:cNvPr>
          <p:cNvSpPr txBox="1">
            <a:spLocks/>
          </p:cNvSpPr>
          <p:nvPr/>
        </p:nvSpPr>
        <p:spPr>
          <a:xfrm>
            <a:off x="5271655" y="237837"/>
            <a:ext cx="6389688" cy="4714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685800" rtl="1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3"/>
                </a:solidFill>
                <a:latin typeface="+mn-lt"/>
                <a:ea typeface="+mn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ar-EG" sz="2800" dirty="0">
                <a:solidFill>
                  <a:srgbClr val="008658"/>
                </a:solidFill>
                <a:latin typeface="Calibri" pitchFamily="34" charset="0"/>
                <a:cs typeface="Calibri" pitchFamily="34" charset="-120"/>
              </a:rPr>
              <a:t>العلاقة بين الحوكمة والامتثال</a:t>
            </a:r>
          </a:p>
        </p:txBody>
      </p:sp>
      <p:sp>
        <p:nvSpPr>
          <p:cNvPr id="42" name="Shape 7"/>
          <p:cNvSpPr/>
          <p:nvPr/>
        </p:nvSpPr>
        <p:spPr>
          <a:xfrm>
            <a:off x="424875" y="2366909"/>
            <a:ext cx="3658413" cy="3572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3" name="Shape 8"/>
          <p:cNvSpPr/>
          <p:nvPr/>
        </p:nvSpPr>
        <p:spPr>
          <a:xfrm>
            <a:off x="424875" y="2366909"/>
            <a:ext cx="3658413" cy="73152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  <p:txBody>
          <a:bodyPr/>
          <a:lstStyle/>
          <a:p>
            <a:endParaRPr lang="ar-EG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4" name="Text 9"/>
          <p:cNvSpPr/>
          <p:nvPr/>
        </p:nvSpPr>
        <p:spPr>
          <a:xfrm>
            <a:off x="567411" y="2488829"/>
            <a:ext cx="337334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ar-EG" sz="1467" b="1" i="1" dirty="0">
                <a:solidFill>
                  <a:srgbClr val="154F31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معاً يحميان المنشأة</a:t>
            </a:r>
            <a:endParaRPr lang="ar-EG" sz="14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5" name="Shape 10"/>
          <p:cNvSpPr/>
          <p:nvPr/>
        </p:nvSpPr>
        <p:spPr>
          <a:xfrm>
            <a:off x="567411" y="2976509"/>
            <a:ext cx="3373342" cy="36576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  <p:txBody>
          <a:bodyPr/>
          <a:lstStyle/>
          <a:p>
            <a:endParaRPr lang="ar-EG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567411" y="3074045"/>
            <a:ext cx="3373342" cy="2694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الحوكمة بلا امتثال: سلطة بلا أثر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الامتثال بلا حوكمة: تنفيذ بلا توجيه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التكامل بينهما يصنع منشأة مستدامة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يُترجم الاستراتيجية إلى ممارسة يومية محمية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يبني ثقة المرضى والجهات التنظيمية والمجتمع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1" name="Shape 16"/>
          <p:cNvSpPr/>
          <p:nvPr/>
        </p:nvSpPr>
        <p:spPr>
          <a:xfrm>
            <a:off x="4178312" y="2366909"/>
            <a:ext cx="3658413" cy="3572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2" name="Shape 17"/>
          <p:cNvSpPr/>
          <p:nvPr/>
        </p:nvSpPr>
        <p:spPr>
          <a:xfrm>
            <a:off x="4178312" y="2366909"/>
            <a:ext cx="3658413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ar-EG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3" name="Text 18"/>
          <p:cNvSpPr/>
          <p:nvPr/>
        </p:nvSpPr>
        <p:spPr>
          <a:xfrm>
            <a:off x="4320847" y="2488829"/>
            <a:ext cx="337334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ar-EG" sz="1467" b="1" i="1" dirty="0">
                <a:solidFill>
                  <a:srgbClr val="154F31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ماذا يُلزَم -  كيف يُراقَب - أين الفجوات</a:t>
            </a:r>
            <a:endParaRPr lang="ar-EG" sz="14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4" name="Shape 19"/>
          <p:cNvSpPr/>
          <p:nvPr/>
        </p:nvSpPr>
        <p:spPr>
          <a:xfrm>
            <a:off x="4320847" y="2976509"/>
            <a:ext cx="3373342" cy="36576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  <p:txBody>
          <a:bodyPr/>
          <a:lstStyle/>
          <a:p>
            <a:endParaRPr lang="ar-EG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5" name="Text 20"/>
          <p:cNvSpPr/>
          <p:nvPr/>
        </p:nvSpPr>
        <p:spPr>
          <a:xfrm>
            <a:off x="4320847" y="3074045"/>
            <a:ext cx="3373342" cy="2694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يحوّل المتطلبات التنظيمية إلى ضوابط قابلة للقياس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يراقب التطبيق الفعلي ويختبر فعالية الضوابط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يعالج أسباب عدم الامتثال الجذرية لا الظاهرية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يرفع تقارير دورية للقيادة لدعم القرار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يبني ثقافة مؤسسية تلتزم بروح النظام لا حرفه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03C0A82-FFE1-CA6B-65FF-0DF61ADD8FB5}"/>
              </a:ext>
            </a:extLst>
          </p:cNvPr>
          <p:cNvGrpSpPr/>
          <p:nvPr/>
        </p:nvGrpSpPr>
        <p:grpSpPr>
          <a:xfrm>
            <a:off x="424875" y="1288473"/>
            <a:ext cx="11165286" cy="695313"/>
            <a:chOff x="424875" y="1184471"/>
            <a:chExt cx="11165286" cy="877824"/>
          </a:xfrm>
        </p:grpSpPr>
        <p:sp>
          <p:nvSpPr>
            <p:cNvPr id="38" name="Shape 3"/>
            <p:cNvSpPr/>
            <p:nvPr/>
          </p:nvSpPr>
          <p:spPr>
            <a:xfrm>
              <a:off x="424875" y="1184471"/>
              <a:ext cx="3658413" cy="877824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ar-EG" sz="2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3EC09D6F-4BE1-39F1-B52D-E6AAEC4C7CED}"/>
                </a:ext>
              </a:extLst>
            </p:cNvPr>
            <p:cNvGrpSpPr/>
            <p:nvPr/>
          </p:nvGrpSpPr>
          <p:grpSpPr>
            <a:xfrm>
              <a:off x="3253457" y="1330775"/>
              <a:ext cx="570142" cy="585216"/>
              <a:chOff x="414528" y="1146048"/>
              <a:chExt cx="585216" cy="585216"/>
            </a:xfrm>
          </p:grpSpPr>
          <p:sp>
            <p:nvSpPr>
              <p:cNvPr id="39" name="Shape 4"/>
              <p:cNvSpPr/>
              <p:nvPr/>
            </p:nvSpPr>
            <p:spPr>
              <a:xfrm>
                <a:off x="414528" y="1146048"/>
                <a:ext cx="585216" cy="585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ar-EG" sz="24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40" name="Text 5"/>
              <p:cNvSpPr/>
              <p:nvPr/>
            </p:nvSpPr>
            <p:spPr>
              <a:xfrm>
                <a:off x="414528" y="1146048"/>
                <a:ext cx="585216" cy="58521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ar-EG" sz="2133" b="1" dirty="0">
                    <a:solidFill>
                      <a:srgbClr val="B8963E"/>
                    </a:solidFill>
                    <a:latin typeface="Sakkal Majalla" panose="02000000000000000000" pitchFamily="2" charset="-78"/>
                    <a:ea typeface="Calibri" pitchFamily="34" charset="-122"/>
                    <a:cs typeface="Sakkal Majalla" panose="02000000000000000000" pitchFamily="2" charset="-78"/>
                  </a:rPr>
                  <a:t>٣</a:t>
                </a:r>
                <a:endParaRPr lang="ar-EG" sz="2133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sp>
          <p:nvSpPr>
            <p:cNvPr id="41" name="Text 6"/>
            <p:cNvSpPr/>
            <p:nvPr/>
          </p:nvSpPr>
          <p:spPr>
            <a:xfrm>
              <a:off x="567410" y="1269815"/>
              <a:ext cx="2348777" cy="707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b="1" dirty="0">
                  <a:solidFill>
                    <a:srgbClr val="FFFFFF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التكامل = استدامة الأداء</a:t>
              </a:r>
              <a:endParaRPr lang="ar-EG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7" name="Shape 12"/>
            <p:cNvSpPr/>
            <p:nvPr/>
          </p:nvSpPr>
          <p:spPr>
            <a:xfrm>
              <a:off x="4178312" y="1184471"/>
              <a:ext cx="3658413" cy="877824"/>
            </a:xfrm>
            <a:prstGeom prst="rect">
              <a:avLst/>
            </a:prstGeom>
            <a:solidFill>
              <a:srgbClr val="2E7D52"/>
            </a:solidFill>
            <a:ln w="12700">
              <a:solidFill>
                <a:srgbClr val="2E7D52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ar-EG" sz="2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280CDAB9-3B43-C804-28D8-964223771083}"/>
                </a:ext>
              </a:extLst>
            </p:cNvPr>
            <p:cNvGrpSpPr/>
            <p:nvPr/>
          </p:nvGrpSpPr>
          <p:grpSpPr>
            <a:xfrm>
              <a:off x="7006894" y="1330775"/>
              <a:ext cx="570142" cy="585216"/>
              <a:chOff x="4267200" y="1146048"/>
              <a:chExt cx="585216" cy="585216"/>
            </a:xfrm>
          </p:grpSpPr>
          <p:sp>
            <p:nvSpPr>
              <p:cNvPr id="48" name="Shape 13"/>
              <p:cNvSpPr/>
              <p:nvPr/>
            </p:nvSpPr>
            <p:spPr>
              <a:xfrm>
                <a:off x="4267200" y="1146048"/>
                <a:ext cx="585216" cy="585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ar-EG" sz="24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49" name="Text 14"/>
              <p:cNvSpPr/>
              <p:nvPr/>
            </p:nvSpPr>
            <p:spPr>
              <a:xfrm>
                <a:off x="4267200" y="1146048"/>
                <a:ext cx="585216" cy="58521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ar-EG" sz="2133" b="1" dirty="0">
                    <a:solidFill>
                      <a:srgbClr val="2E7D52"/>
                    </a:solidFill>
                    <a:latin typeface="Sakkal Majalla" panose="02000000000000000000" pitchFamily="2" charset="-78"/>
                    <a:ea typeface="Calibri" pitchFamily="34" charset="-122"/>
                    <a:cs typeface="Sakkal Majalla" panose="02000000000000000000" pitchFamily="2" charset="-78"/>
                  </a:rPr>
                  <a:t>٢</a:t>
                </a:r>
                <a:endParaRPr lang="ar-EG" sz="2133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sp>
          <p:nvSpPr>
            <p:cNvPr id="50" name="Text 15"/>
            <p:cNvSpPr/>
            <p:nvPr/>
          </p:nvSpPr>
          <p:spPr>
            <a:xfrm>
              <a:off x="4044594" y="1269815"/>
              <a:ext cx="2625030" cy="707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b="1" dirty="0">
                  <a:solidFill>
                    <a:srgbClr val="FFFFFF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الامتثال يضمن التطبيق</a:t>
              </a:r>
              <a:endParaRPr lang="ar-EG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6" name="Shape 21"/>
            <p:cNvSpPr/>
            <p:nvPr/>
          </p:nvSpPr>
          <p:spPr>
            <a:xfrm>
              <a:off x="7931748" y="1184471"/>
              <a:ext cx="3658413" cy="877824"/>
            </a:xfrm>
            <a:prstGeom prst="rect">
              <a:avLst/>
            </a:prstGeom>
            <a:solidFill>
              <a:srgbClr val="2E7D52"/>
            </a:solidFill>
            <a:ln w="12700">
              <a:solidFill>
                <a:srgbClr val="2E7D52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ar-EG" sz="2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EF9F566D-C70C-9502-393A-3C6CF4260DA2}"/>
                </a:ext>
              </a:extLst>
            </p:cNvPr>
            <p:cNvGrpSpPr/>
            <p:nvPr/>
          </p:nvGrpSpPr>
          <p:grpSpPr>
            <a:xfrm>
              <a:off x="10760331" y="1330775"/>
              <a:ext cx="570142" cy="585216"/>
              <a:chOff x="8119872" y="1146048"/>
              <a:chExt cx="585216" cy="585216"/>
            </a:xfrm>
          </p:grpSpPr>
          <p:sp>
            <p:nvSpPr>
              <p:cNvPr id="57" name="Shape 22"/>
              <p:cNvSpPr/>
              <p:nvPr/>
            </p:nvSpPr>
            <p:spPr>
              <a:xfrm>
                <a:off x="8119872" y="1146048"/>
                <a:ext cx="585216" cy="585216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ar-EG" sz="24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58" name="Text 23"/>
              <p:cNvSpPr/>
              <p:nvPr/>
            </p:nvSpPr>
            <p:spPr>
              <a:xfrm>
                <a:off x="8119872" y="1146048"/>
                <a:ext cx="585216" cy="585216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ar-EG" sz="2133" b="1" dirty="0">
                    <a:solidFill>
                      <a:srgbClr val="2E7D52"/>
                    </a:solidFill>
                    <a:latin typeface="Sakkal Majalla" panose="02000000000000000000" pitchFamily="2" charset="-78"/>
                    <a:ea typeface="Calibri" pitchFamily="34" charset="-122"/>
                    <a:cs typeface="Sakkal Majalla" panose="02000000000000000000" pitchFamily="2" charset="-78"/>
                  </a:rPr>
                  <a:t>١</a:t>
                </a:r>
                <a:endParaRPr lang="ar-EG" sz="2133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p:grpSp>
        <p:sp>
          <p:nvSpPr>
            <p:cNvPr id="59" name="Text 24"/>
            <p:cNvSpPr/>
            <p:nvPr/>
          </p:nvSpPr>
          <p:spPr>
            <a:xfrm>
              <a:off x="7798030" y="1269815"/>
              <a:ext cx="2625030" cy="7071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b="1" dirty="0">
                  <a:solidFill>
                    <a:srgbClr val="FFFFFF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الحوكمة تحدد الإطار</a:t>
              </a:r>
              <a:endParaRPr lang="ar-EG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60" name="Shape 25"/>
          <p:cNvSpPr/>
          <p:nvPr/>
        </p:nvSpPr>
        <p:spPr>
          <a:xfrm>
            <a:off x="7931748" y="2366909"/>
            <a:ext cx="3658413" cy="3572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EG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1" name="Shape 26"/>
          <p:cNvSpPr/>
          <p:nvPr/>
        </p:nvSpPr>
        <p:spPr>
          <a:xfrm>
            <a:off x="7931748" y="2366909"/>
            <a:ext cx="3658413" cy="7315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ar-EG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2" name="Text 27"/>
          <p:cNvSpPr/>
          <p:nvPr/>
        </p:nvSpPr>
        <p:spPr>
          <a:xfrm>
            <a:off x="8074284" y="2488829"/>
            <a:ext cx="3373342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ar-EG" sz="1467" b="1" i="1" dirty="0">
                <a:solidFill>
                  <a:srgbClr val="154F31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من يقرر  - ماذا يُقرر - كيف يُحاسَب</a:t>
            </a:r>
            <a:endParaRPr lang="ar-EG" sz="14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3" name="Shape 28"/>
          <p:cNvSpPr/>
          <p:nvPr/>
        </p:nvSpPr>
        <p:spPr>
          <a:xfrm>
            <a:off x="8074284" y="2976509"/>
            <a:ext cx="3373342" cy="36576"/>
          </a:xfrm>
          <a:prstGeom prst="rect">
            <a:avLst/>
          </a:prstGeom>
          <a:solidFill>
            <a:srgbClr val="A8D5B5"/>
          </a:solidFill>
          <a:ln w="12700">
            <a:solidFill>
              <a:srgbClr val="A8D5B5"/>
            </a:solidFill>
            <a:prstDash val="solid"/>
          </a:ln>
        </p:spPr>
        <p:txBody>
          <a:bodyPr/>
          <a:lstStyle/>
          <a:p>
            <a:endParaRPr lang="ar-EG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8" name="Text 29"/>
          <p:cNvSpPr/>
          <p:nvPr/>
        </p:nvSpPr>
        <p:spPr>
          <a:xfrm>
            <a:off x="8074284" y="3074045"/>
            <a:ext cx="3373342" cy="2694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توزع الأدوار بين مجلس الإدارة والإدارة واللجان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مصفوفة الصلاحيات (DoA) تضبط القرار وتمنع التداخل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السياسات تُترجم الاستراتيجية إلى ممارسة يومية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آليات المساءلة والشفافية تحمي القرار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57189" indent="-457189" algn="r" rtl="1">
              <a:spcAft>
                <a:spcPts val="667"/>
              </a:spcAft>
              <a:buSzPct val="100000"/>
              <a:buChar char="•"/>
            </a:pPr>
            <a:r>
              <a:rPr lang="ar-EG" sz="1667" dirty="0">
                <a:solidFill>
                  <a:srgbClr val="1C2B22"/>
                </a:solidFill>
                <a:latin typeface="Sakkal Majalla" panose="02000000000000000000" pitchFamily="2" charset="-78"/>
                <a:ea typeface="Arial" pitchFamily="34" charset="-122"/>
                <a:cs typeface="Sakkal Majalla" panose="02000000000000000000" pitchFamily="2" charset="-78"/>
              </a:rPr>
              <a:t>تحدد من يُبلَّغ ومتى وبأي آلية</a:t>
            </a:r>
            <a:endParaRPr lang="ar-EG" sz="1667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8553824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4A876-287E-D977-0158-CFC91053C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2EFF654-AE86-AF4D-4617-7DBCB43E53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163" y="1489"/>
          <a:ext cx="1489" cy="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2EFF654-AE86-AF4D-4617-7DBCB43E5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63" y="1489"/>
                        <a:ext cx="1489" cy="1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" name="Text Placeholder 2">
            <a:extLst>
              <a:ext uri="{FF2B5EF4-FFF2-40B4-BE49-F238E27FC236}">
                <a16:creationId xmlns:a16="http://schemas.microsoft.com/office/drawing/2014/main" id="{9080F5B7-3311-FE7D-8259-DDADB9EEDCA7}"/>
              </a:ext>
            </a:extLst>
          </p:cNvPr>
          <p:cNvSpPr txBox="1">
            <a:spLocks/>
          </p:cNvSpPr>
          <p:nvPr/>
        </p:nvSpPr>
        <p:spPr>
          <a:xfrm>
            <a:off x="5271655" y="237837"/>
            <a:ext cx="6389688" cy="4714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685800" rtl="1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3"/>
                </a:solidFill>
                <a:latin typeface="+mn-lt"/>
                <a:ea typeface="+mn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ar-EG" sz="2800" dirty="0">
                <a:solidFill>
                  <a:srgbClr val="008658"/>
                </a:solidFill>
                <a:latin typeface="Calibri" pitchFamily="34" charset="0"/>
                <a:cs typeface="Calibri" pitchFamily="34" charset="-120"/>
              </a:rPr>
              <a:t>نشاط: الحوكمة أم الامتثال؟ — تمييز الأدوار</a:t>
            </a:r>
          </a:p>
        </p:txBody>
      </p:sp>
      <p:sp>
        <p:nvSpPr>
          <p:cNvPr id="8" name="Rounded Rectangle 5"/>
          <p:cNvSpPr/>
          <p:nvPr/>
        </p:nvSpPr>
        <p:spPr>
          <a:xfrm>
            <a:off x="367348" y="1520768"/>
            <a:ext cx="11430000" cy="968432"/>
          </a:xfrm>
          <a:prstGeom prst="roundRect">
            <a:avLst>
              <a:gd name="adj" fmla="val 0"/>
            </a:avLst>
          </a:prstGeom>
          <a:solidFill>
            <a:srgbClr val="B8963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r" rtl="1"/>
            <a:r>
              <a:rPr lang="ar-EG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السيناريو</a:t>
            </a:r>
          </a:p>
          <a:p>
            <a:pPr algn="r" rtl="1"/>
            <a:r>
              <a:rPr lang="ar-EG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لاحظت لجنة الجودة في مستشفى أن 30٪ من الأطباء لا يوثقون تقارير الخروج وفق السياسة المعتمدة. صنّف كل إجراء أدناه: هل هو قرار حوكمة أم إجراء امتثال؟ ولماذا؟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5ADDBBB-EF16-D487-7D1E-A346004DBBD2}"/>
              </a:ext>
            </a:extLst>
          </p:cNvPr>
          <p:cNvGrpSpPr/>
          <p:nvPr/>
        </p:nvGrpSpPr>
        <p:grpSpPr>
          <a:xfrm>
            <a:off x="394652" y="2874818"/>
            <a:ext cx="11460480" cy="3084024"/>
            <a:chOff x="365760" y="1280160"/>
            <a:chExt cx="11460480" cy="4608576"/>
          </a:xfrm>
        </p:grpSpPr>
        <p:sp>
          <p:nvSpPr>
            <p:cNvPr id="46" name="Shape 3">
              <a:extLst>
                <a:ext uri="{FF2B5EF4-FFF2-40B4-BE49-F238E27FC236}">
                  <a16:creationId xmlns:a16="http://schemas.microsoft.com/office/drawing/2014/main" id="{87C5048E-440D-5E17-A422-0653AC4D7E45}"/>
                </a:ext>
              </a:extLst>
            </p:cNvPr>
            <p:cNvSpPr/>
            <p:nvPr/>
          </p:nvSpPr>
          <p:spPr>
            <a:xfrm>
              <a:off x="6205728" y="1280160"/>
              <a:ext cx="5620512" cy="2218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7" name="Shape 4">
              <a:extLst>
                <a:ext uri="{FF2B5EF4-FFF2-40B4-BE49-F238E27FC236}">
                  <a16:creationId xmlns:a16="http://schemas.microsoft.com/office/drawing/2014/main" id="{F70F91B1-263B-FFF6-2D99-3CAB2EDAF801}"/>
                </a:ext>
              </a:extLst>
            </p:cNvPr>
            <p:cNvSpPr/>
            <p:nvPr/>
          </p:nvSpPr>
          <p:spPr>
            <a:xfrm>
              <a:off x="6205728" y="1280160"/>
              <a:ext cx="5620512" cy="85344"/>
            </a:xfrm>
            <a:prstGeom prst="rect">
              <a:avLst/>
            </a:prstGeom>
            <a:solidFill>
              <a:srgbClr val="B8963E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D52446B3-2948-16DD-A496-10D8FE73E049}"/>
                </a:ext>
              </a:extLst>
            </p:cNvPr>
            <p:cNvSpPr/>
            <p:nvPr/>
          </p:nvSpPr>
          <p:spPr>
            <a:xfrm>
              <a:off x="11277600" y="1402080"/>
              <a:ext cx="414528" cy="414528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9" name="Text 6">
              <a:extLst>
                <a:ext uri="{FF2B5EF4-FFF2-40B4-BE49-F238E27FC236}">
                  <a16:creationId xmlns:a16="http://schemas.microsoft.com/office/drawing/2014/main" id="{B17CE200-0343-99CB-5D5C-01A1B8982066}"/>
                </a:ext>
              </a:extLst>
            </p:cNvPr>
            <p:cNvSpPr/>
            <p:nvPr/>
          </p:nvSpPr>
          <p:spPr>
            <a:xfrm>
              <a:off x="11277600" y="1402080"/>
              <a:ext cx="414528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1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0" name="Text 7">
              <a:extLst>
                <a:ext uri="{FF2B5EF4-FFF2-40B4-BE49-F238E27FC236}">
                  <a16:creationId xmlns:a16="http://schemas.microsoft.com/office/drawing/2014/main" id="{8B2622F9-634E-9678-9C4D-93042EB2E548}"/>
                </a:ext>
              </a:extLst>
            </p:cNvPr>
            <p:cNvSpPr/>
            <p:nvPr/>
          </p:nvSpPr>
          <p:spPr>
            <a:xfrm>
              <a:off x="6303264" y="1402080"/>
              <a:ext cx="491337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154F3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حوكمة/ امتثال؟</a:t>
              </a:r>
            </a:p>
          </p:txBody>
        </p:sp>
        <p:sp>
          <p:nvSpPr>
            <p:cNvPr id="51" name="Shape 8">
              <a:extLst>
                <a:ext uri="{FF2B5EF4-FFF2-40B4-BE49-F238E27FC236}">
                  <a16:creationId xmlns:a16="http://schemas.microsoft.com/office/drawing/2014/main" id="{C538DF2D-0F39-0F14-4027-ACBE7D49ADD4}"/>
                </a:ext>
              </a:extLst>
            </p:cNvPr>
            <p:cNvSpPr/>
            <p:nvPr/>
          </p:nvSpPr>
          <p:spPr>
            <a:xfrm>
              <a:off x="6303264" y="1914144"/>
              <a:ext cx="542544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2" name="Text 9">
              <a:extLst>
                <a:ext uri="{FF2B5EF4-FFF2-40B4-BE49-F238E27FC236}">
                  <a16:creationId xmlns:a16="http://schemas.microsoft.com/office/drawing/2014/main" id="{1017F163-251D-DF03-A06A-512BA3360AA6}"/>
                </a:ext>
              </a:extLst>
            </p:cNvPr>
            <p:cNvSpPr/>
            <p:nvPr/>
          </p:nvSpPr>
          <p:spPr>
            <a:xfrm>
              <a:off x="6303264" y="1987296"/>
              <a:ext cx="5425440" cy="13655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dirty="0">
                  <a:solidFill>
                    <a:srgbClr val="1C2B22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إصدار سياسة جديدة تلزم بالتوثيق الإلكتروني خلال 24 ساعة</a:t>
              </a:r>
            </a:p>
          </p:txBody>
        </p:sp>
        <p:sp>
          <p:nvSpPr>
            <p:cNvPr id="53" name="Shape 10">
              <a:extLst>
                <a:ext uri="{FF2B5EF4-FFF2-40B4-BE49-F238E27FC236}">
                  <a16:creationId xmlns:a16="http://schemas.microsoft.com/office/drawing/2014/main" id="{76B3B0B1-3AC5-12E7-791C-1185319AA5F0}"/>
                </a:ext>
              </a:extLst>
            </p:cNvPr>
            <p:cNvSpPr/>
            <p:nvPr/>
          </p:nvSpPr>
          <p:spPr>
            <a:xfrm>
              <a:off x="365760" y="1280160"/>
              <a:ext cx="5620512" cy="2218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4" name="Shape 11">
              <a:extLst>
                <a:ext uri="{FF2B5EF4-FFF2-40B4-BE49-F238E27FC236}">
                  <a16:creationId xmlns:a16="http://schemas.microsoft.com/office/drawing/2014/main" id="{70989B17-1DF8-9244-EAB8-DB3033A135E8}"/>
                </a:ext>
              </a:extLst>
            </p:cNvPr>
            <p:cNvSpPr/>
            <p:nvPr/>
          </p:nvSpPr>
          <p:spPr>
            <a:xfrm>
              <a:off x="365760" y="1280160"/>
              <a:ext cx="5620512" cy="85344"/>
            </a:xfrm>
            <a:prstGeom prst="rect">
              <a:avLst/>
            </a:prstGeom>
            <a:solidFill>
              <a:srgbClr val="B8963E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5" name="Shape 12">
              <a:extLst>
                <a:ext uri="{FF2B5EF4-FFF2-40B4-BE49-F238E27FC236}">
                  <a16:creationId xmlns:a16="http://schemas.microsoft.com/office/drawing/2014/main" id="{E16A4A10-4330-7BAD-2DCB-9A90B16964F4}"/>
                </a:ext>
              </a:extLst>
            </p:cNvPr>
            <p:cNvSpPr/>
            <p:nvPr/>
          </p:nvSpPr>
          <p:spPr>
            <a:xfrm>
              <a:off x="5437632" y="1402080"/>
              <a:ext cx="414528" cy="414528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6" name="Text 13">
              <a:extLst>
                <a:ext uri="{FF2B5EF4-FFF2-40B4-BE49-F238E27FC236}">
                  <a16:creationId xmlns:a16="http://schemas.microsoft.com/office/drawing/2014/main" id="{92751218-40F3-9492-ACBF-84A2313E2FCA}"/>
                </a:ext>
              </a:extLst>
            </p:cNvPr>
            <p:cNvSpPr/>
            <p:nvPr/>
          </p:nvSpPr>
          <p:spPr>
            <a:xfrm>
              <a:off x="5437632" y="1402080"/>
              <a:ext cx="414528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2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7" name="Text 14">
              <a:extLst>
                <a:ext uri="{FF2B5EF4-FFF2-40B4-BE49-F238E27FC236}">
                  <a16:creationId xmlns:a16="http://schemas.microsoft.com/office/drawing/2014/main" id="{D501DB0C-614A-48D2-EFF8-10A895D2ACCC}"/>
                </a:ext>
              </a:extLst>
            </p:cNvPr>
            <p:cNvSpPr/>
            <p:nvPr/>
          </p:nvSpPr>
          <p:spPr>
            <a:xfrm>
              <a:off x="463296" y="1402080"/>
              <a:ext cx="491337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154F3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حوكمة/ امتثال؟</a:t>
              </a:r>
            </a:p>
          </p:txBody>
        </p:sp>
        <p:sp>
          <p:nvSpPr>
            <p:cNvPr id="58" name="Shape 15">
              <a:extLst>
                <a:ext uri="{FF2B5EF4-FFF2-40B4-BE49-F238E27FC236}">
                  <a16:creationId xmlns:a16="http://schemas.microsoft.com/office/drawing/2014/main" id="{290420B5-4603-5E73-BDEC-7A74DEB139BE}"/>
                </a:ext>
              </a:extLst>
            </p:cNvPr>
            <p:cNvSpPr/>
            <p:nvPr/>
          </p:nvSpPr>
          <p:spPr>
            <a:xfrm>
              <a:off x="463296" y="1914144"/>
              <a:ext cx="542544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9" name="Text 16">
              <a:extLst>
                <a:ext uri="{FF2B5EF4-FFF2-40B4-BE49-F238E27FC236}">
                  <a16:creationId xmlns:a16="http://schemas.microsoft.com/office/drawing/2014/main" id="{D67B4A94-BB89-F0D0-D8A1-A88D476632B4}"/>
                </a:ext>
              </a:extLst>
            </p:cNvPr>
            <p:cNvSpPr/>
            <p:nvPr/>
          </p:nvSpPr>
          <p:spPr>
            <a:xfrm>
              <a:off x="463296" y="1987296"/>
              <a:ext cx="5425440" cy="13655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dirty="0">
                  <a:solidFill>
                    <a:srgbClr val="1C2B22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إنشاء لجنة مراجعة تقارير الخروج شهرياً</a:t>
              </a:r>
            </a:p>
          </p:txBody>
        </p:sp>
        <p:sp>
          <p:nvSpPr>
            <p:cNvPr id="60" name="Shape 17">
              <a:extLst>
                <a:ext uri="{FF2B5EF4-FFF2-40B4-BE49-F238E27FC236}">
                  <a16:creationId xmlns:a16="http://schemas.microsoft.com/office/drawing/2014/main" id="{A6D0F206-48B9-D354-421D-B78EC53B44AF}"/>
                </a:ext>
              </a:extLst>
            </p:cNvPr>
            <p:cNvSpPr/>
            <p:nvPr/>
          </p:nvSpPr>
          <p:spPr>
            <a:xfrm>
              <a:off x="6205728" y="3669792"/>
              <a:ext cx="5620512" cy="2218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1" name="Shape 18">
              <a:extLst>
                <a:ext uri="{FF2B5EF4-FFF2-40B4-BE49-F238E27FC236}">
                  <a16:creationId xmlns:a16="http://schemas.microsoft.com/office/drawing/2014/main" id="{96143F9F-D890-CB74-4E76-29E8F8F06E55}"/>
                </a:ext>
              </a:extLst>
            </p:cNvPr>
            <p:cNvSpPr/>
            <p:nvPr/>
          </p:nvSpPr>
          <p:spPr>
            <a:xfrm>
              <a:off x="6205728" y="3669792"/>
              <a:ext cx="5620512" cy="85344"/>
            </a:xfrm>
            <a:prstGeom prst="rect">
              <a:avLst/>
            </a:prstGeom>
            <a:solidFill>
              <a:srgbClr val="B8963E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2" name="Shape 19">
              <a:extLst>
                <a:ext uri="{FF2B5EF4-FFF2-40B4-BE49-F238E27FC236}">
                  <a16:creationId xmlns:a16="http://schemas.microsoft.com/office/drawing/2014/main" id="{3135C1D7-83BF-5F23-E0ED-6AA31D759C5F}"/>
                </a:ext>
              </a:extLst>
            </p:cNvPr>
            <p:cNvSpPr/>
            <p:nvPr/>
          </p:nvSpPr>
          <p:spPr>
            <a:xfrm>
              <a:off x="11277600" y="3791712"/>
              <a:ext cx="414528" cy="414528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3" name="Text 20">
              <a:extLst>
                <a:ext uri="{FF2B5EF4-FFF2-40B4-BE49-F238E27FC236}">
                  <a16:creationId xmlns:a16="http://schemas.microsoft.com/office/drawing/2014/main" id="{06AAED10-9D23-54E6-797C-C0A5F81A3EE0}"/>
                </a:ext>
              </a:extLst>
            </p:cNvPr>
            <p:cNvSpPr/>
            <p:nvPr/>
          </p:nvSpPr>
          <p:spPr>
            <a:xfrm>
              <a:off x="11277600" y="3791712"/>
              <a:ext cx="414528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3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8" name="Text 21">
              <a:extLst>
                <a:ext uri="{FF2B5EF4-FFF2-40B4-BE49-F238E27FC236}">
                  <a16:creationId xmlns:a16="http://schemas.microsoft.com/office/drawing/2014/main" id="{994AC905-555F-6A9A-C0BF-CDEB878EBE66}"/>
                </a:ext>
              </a:extLst>
            </p:cNvPr>
            <p:cNvSpPr/>
            <p:nvPr/>
          </p:nvSpPr>
          <p:spPr>
            <a:xfrm>
              <a:off x="6303264" y="3791712"/>
              <a:ext cx="491337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154F3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حوكمة/ امتثال؟</a:t>
              </a:r>
            </a:p>
          </p:txBody>
        </p:sp>
        <p:sp>
          <p:nvSpPr>
            <p:cNvPr id="129" name="Shape 22">
              <a:extLst>
                <a:ext uri="{FF2B5EF4-FFF2-40B4-BE49-F238E27FC236}">
                  <a16:creationId xmlns:a16="http://schemas.microsoft.com/office/drawing/2014/main" id="{6C923E31-539B-F4DD-3CDF-D9CEA15BADC9}"/>
                </a:ext>
              </a:extLst>
            </p:cNvPr>
            <p:cNvSpPr/>
            <p:nvPr/>
          </p:nvSpPr>
          <p:spPr>
            <a:xfrm>
              <a:off x="6303264" y="4303776"/>
              <a:ext cx="542544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0" name="Text 23">
              <a:extLst>
                <a:ext uri="{FF2B5EF4-FFF2-40B4-BE49-F238E27FC236}">
                  <a16:creationId xmlns:a16="http://schemas.microsoft.com/office/drawing/2014/main" id="{B9ACF823-5B00-4416-FD4A-25CE0EEA9C03}"/>
                </a:ext>
              </a:extLst>
            </p:cNvPr>
            <p:cNvSpPr/>
            <p:nvPr/>
          </p:nvSpPr>
          <p:spPr>
            <a:xfrm>
              <a:off x="6303264" y="4376928"/>
              <a:ext cx="5425440" cy="13655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dirty="0">
                  <a:solidFill>
                    <a:srgbClr val="1C2B22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إرسال تنبيهات تلقائية للأطباء المتأخرين في التوثيق</a:t>
              </a:r>
            </a:p>
          </p:txBody>
        </p:sp>
        <p:sp>
          <p:nvSpPr>
            <p:cNvPr id="131" name="Shape 24">
              <a:extLst>
                <a:ext uri="{FF2B5EF4-FFF2-40B4-BE49-F238E27FC236}">
                  <a16:creationId xmlns:a16="http://schemas.microsoft.com/office/drawing/2014/main" id="{73FD2D3D-8BD5-E599-50D5-D497E595692B}"/>
                </a:ext>
              </a:extLst>
            </p:cNvPr>
            <p:cNvSpPr/>
            <p:nvPr/>
          </p:nvSpPr>
          <p:spPr>
            <a:xfrm>
              <a:off x="365760" y="3669792"/>
              <a:ext cx="5620512" cy="2218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2" name="Shape 25">
              <a:extLst>
                <a:ext uri="{FF2B5EF4-FFF2-40B4-BE49-F238E27FC236}">
                  <a16:creationId xmlns:a16="http://schemas.microsoft.com/office/drawing/2014/main" id="{297A62FC-B360-784E-4F39-07F70C308092}"/>
                </a:ext>
              </a:extLst>
            </p:cNvPr>
            <p:cNvSpPr/>
            <p:nvPr/>
          </p:nvSpPr>
          <p:spPr>
            <a:xfrm>
              <a:off x="365760" y="3669792"/>
              <a:ext cx="5620512" cy="85344"/>
            </a:xfrm>
            <a:prstGeom prst="rect">
              <a:avLst/>
            </a:prstGeom>
            <a:solidFill>
              <a:srgbClr val="B8963E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3" name="Shape 26">
              <a:extLst>
                <a:ext uri="{FF2B5EF4-FFF2-40B4-BE49-F238E27FC236}">
                  <a16:creationId xmlns:a16="http://schemas.microsoft.com/office/drawing/2014/main" id="{1F1F71CA-1418-B553-C701-F91046B0D456}"/>
                </a:ext>
              </a:extLst>
            </p:cNvPr>
            <p:cNvSpPr/>
            <p:nvPr/>
          </p:nvSpPr>
          <p:spPr>
            <a:xfrm>
              <a:off x="5437632" y="3791712"/>
              <a:ext cx="414528" cy="414528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4" name="Text 27">
              <a:extLst>
                <a:ext uri="{FF2B5EF4-FFF2-40B4-BE49-F238E27FC236}">
                  <a16:creationId xmlns:a16="http://schemas.microsoft.com/office/drawing/2014/main" id="{3B4F8561-A628-9B5C-70EF-7D902C697FD5}"/>
                </a:ext>
              </a:extLst>
            </p:cNvPr>
            <p:cNvSpPr/>
            <p:nvPr/>
          </p:nvSpPr>
          <p:spPr>
            <a:xfrm>
              <a:off x="5437632" y="3791712"/>
              <a:ext cx="414528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4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5" name="Text 28">
              <a:extLst>
                <a:ext uri="{FF2B5EF4-FFF2-40B4-BE49-F238E27FC236}">
                  <a16:creationId xmlns:a16="http://schemas.microsoft.com/office/drawing/2014/main" id="{D9E37A8F-125F-F145-22B9-769F8B94A00F}"/>
                </a:ext>
              </a:extLst>
            </p:cNvPr>
            <p:cNvSpPr/>
            <p:nvPr/>
          </p:nvSpPr>
          <p:spPr>
            <a:xfrm>
              <a:off x="463296" y="3791712"/>
              <a:ext cx="491337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154F3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حوكمة/ امتثال؟</a:t>
              </a:r>
            </a:p>
          </p:txBody>
        </p:sp>
        <p:sp>
          <p:nvSpPr>
            <p:cNvPr id="136" name="Shape 29">
              <a:extLst>
                <a:ext uri="{FF2B5EF4-FFF2-40B4-BE49-F238E27FC236}">
                  <a16:creationId xmlns:a16="http://schemas.microsoft.com/office/drawing/2014/main" id="{55D1F474-1956-2A30-CCBE-1E67906CDC44}"/>
                </a:ext>
              </a:extLst>
            </p:cNvPr>
            <p:cNvSpPr/>
            <p:nvPr/>
          </p:nvSpPr>
          <p:spPr>
            <a:xfrm>
              <a:off x="463296" y="4303776"/>
              <a:ext cx="542544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7" name="Text 30">
              <a:extLst>
                <a:ext uri="{FF2B5EF4-FFF2-40B4-BE49-F238E27FC236}">
                  <a16:creationId xmlns:a16="http://schemas.microsoft.com/office/drawing/2014/main" id="{8913B0DA-E428-F223-A734-010E69C20228}"/>
                </a:ext>
              </a:extLst>
            </p:cNvPr>
            <p:cNvSpPr/>
            <p:nvPr/>
          </p:nvSpPr>
          <p:spPr>
            <a:xfrm>
              <a:off x="463296" y="4376928"/>
              <a:ext cx="5425440" cy="13655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dirty="0">
                  <a:solidFill>
                    <a:srgbClr val="1C2B22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ربط الامتثال بالتوثيق بمؤشرات أداء الطبيب السنوية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791124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4CE0-E4E2-01F0-3D33-8FE49F45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A1AEB51-89C4-ACEF-7780-EBD31D223E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163" y="1489"/>
          <a:ext cx="1489" cy="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A1AEB51-89C4-ACEF-7780-EBD31D223E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63" y="1489"/>
                        <a:ext cx="1489" cy="1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1894AF-FB8D-0BE6-FA62-27329A068FD9}"/>
              </a:ext>
            </a:extLst>
          </p:cNvPr>
          <p:cNvSpPr txBox="1">
            <a:spLocks/>
          </p:cNvSpPr>
          <p:nvPr/>
        </p:nvSpPr>
        <p:spPr>
          <a:xfrm>
            <a:off x="5495081" y="159153"/>
            <a:ext cx="6389688" cy="52322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r" defTabSz="685800" rtl="1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1" kern="1200">
                <a:solidFill>
                  <a:schemeClr val="accent3"/>
                </a:solidFill>
                <a:latin typeface="+mn-lt"/>
                <a:ea typeface="+mn-ea"/>
                <a:cs typeface="+mj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ar-EG" sz="2800" dirty="0">
                <a:solidFill>
                  <a:srgbClr val="008658"/>
                </a:solidFill>
                <a:latin typeface="Calibri" pitchFamily="34" charset="0"/>
                <a:cs typeface="Calibri" pitchFamily="34" charset="-120"/>
              </a:rPr>
              <a:t>أخلاقيات العمل وتضارب المصالح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D031BD-C9FA-AA72-CCA0-5D751CE6CC8F}"/>
              </a:ext>
            </a:extLst>
          </p:cNvPr>
          <p:cNvGrpSpPr/>
          <p:nvPr/>
        </p:nvGrpSpPr>
        <p:grpSpPr>
          <a:xfrm>
            <a:off x="426720" y="1216433"/>
            <a:ext cx="11338560" cy="4693920"/>
            <a:chOff x="426720" y="1341120"/>
            <a:chExt cx="11338560" cy="4693920"/>
          </a:xfrm>
        </p:grpSpPr>
        <p:sp>
          <p:nvSpPr>
            <p:cNvPr id="47" name="Shape 3"/>
            <p:cNvSpPr/>
            <p:nvPr/>
          </p:nvSpPr>
          <p:spPr>
            <a:xfrm>
              <a:off x="8148320" y="13411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8" name="Shape 4"/>
            <p:cNvSpPr/>
            <p:nvPr/>
          </p:nvSpPr>
          <p:spPr>
            <a:xfrm>
              <a:off x="8148320" y="1341120"/>
              <a:ext cx="3616960" cy="73152"/>
            </a:xfrm>
            <a:prstGeom prst="rect">
              <a:avLst/>
            </a:prstGeom>
            <a:solidFill>
              <a:srgbClr val="008658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0" name="Shape 5"/>
            <p:cNvSpPr/>
            <p:nvPr/>
          </p:nvSpPr>
          <p:spPr>
            <a:xfrm>
              <a:off x="11131296" y="1487424"/>
              <a:ext cx="463296" cy="463296"/>
            </a:xfrm>
            <a:prstGeom prst="ellipse">
              <a:avLst/>
            </a:prstGeom>
            <a:solidFill>
              <a:srgbClr val="008658"/>
            </a:solidFill>
            <a:ln w="12700">
              <a:solidFill>
                <a:srgbClr val="8E4B2C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1" name="Text 6"/>
            <p:cNvSpPr/>
            <p:nvPr/>
          </p:nvSpPr>
          <p:spPr>
            <a:xfrm>
              <a:off x="11131296" y="14996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1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2" name="Text 7"/>
            <p:cNvSpPr/>
            <p:nvPr/>
          </p:nvSpPr>
          <p:spPr>
            <a:xfrm>
              <a:off x="8270240" y="14630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008658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أخلاقيات العمل العام</a:t>
              </a:r>
              <a:endParaRPr lang="ar-EG" sz="2000" noProof="0" dirty="0">
                <a:solidFill>
                  <a:srgbClr val="008658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3" name="Shape 8"/>
            <p:cNvSpPr/>
            <p:nvPr/>
          </p:nvSpPr>
          <p:spPr>
            <a:xfrm>
              <a:off x="8270240" y="20116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4" name="Text 9"/>
            <p:cNvSpPr/>
            <p:nvPr/>
          </p:nvSpPr>
          <p:spPr>
            <a:xfrm>
              <a:off x="8270240" y="20970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منظومة القيم التي تحكم سلوك الموظف: النزاهة، العدالة، الحياد، الشفافية، تغليب المصلحة العامة – ليست التزاماً مجرداً بل سلوكاً يومياً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5" name="Shape 10"/>
            <p:cNvSpPr/>
            <p:nvPr/>
          </p:nvSpPr>
          <p:spPr>
            <a:xfrm>
              <a:off x="4287520" y="13411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6" name="Shape 11"/>
            <p:cNvSpPr/>
            <p:nvPr/>
          </p:nvSpPr>
          <p:spPr>
            <a:xfrm>
              <a:off x="4287520" y="1341120"/>
              <a:ext cx="3616960" cy="73152"/>
            </a:xfrm>
            <a:prstGeom prst="rect">
              <a:avLst/>
            </a:prstGeom>
            <a:solidFill>
              <a:srgbClr val="008658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7" name="Shape 12"/>
            <p:cNvSpPr/>
            <p:nvPr/>
          </p:nvSpPr>
          <p:spPr>
            <a:xfrm>
              <a:off x="7270496" y="1487424"/>
              <a:ext cx="463296" cy="463296"/>
            </a:xfrm>
            <a:prstGeom prst="ellipse">
              <a:avLst/>
            </a:prstGeom>
            <a:solidFill>
              <a:srgbClr val="008658"/>
            </a:solidFill>
            <a:ln w="12700">
              <a:solidFill>
                <a:srgbClr val="8E4B2C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8" name="Text 13"/>
            <p:cNvSpPr/>
            <p:nvPr/>
          </p:nvSpPr>
          <p:spPr>
            <a:xfrm>
              <a:off x="7270496" y="14996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2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9" name="Text 14"/>
            <p:cNvSpPr/>
            <p:nvPr/>
          </p:nvSpPr>
          <p:spPr>
            <a:xfrm>
              <a:off x="4409440" y="14630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008658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الأساس النظامي في المملكة</a:t>
              </a:r>
            </a:p>
          </p:txBody>
        </p:sp>
        <p:sp>
          <p:nvSpPr>
            <p:cNvPr id="60" name="Shape 15"/>
            <p:cNvSpPr/>
            <p:nvPr/>
          </p:nvSpPr>
          <p:spPr>
            <a:xfrm>
              <a:off x="4409440" y="20116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1" name="Text 16"/>
            <p:cNvSpPr/>
            <p:nvPr/>
          </p:nvSpPr>
          <p:spPr>
            <a:xfrm>
              <a:off x="4409440" y="20970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نظام الخدمة المدنية، نظام الانضباط الوظيفي، نظام مكافحة الرشوة، وثيقة السلوك الوظيفي وأخلاقيات الوظيفة العامة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2" name="Shape 17"/>
            <p:cNvSpPr/>
            <p:nvPr/>
          </p:nvSpPr>
          <p:spPr>
            <a:xfrm>
              <a:off x="426720" y="13411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3" name="Shape 18"/>
            <p:cNvSpPr/>
            <p:nvPr/>
          </p:nvSpPr>
          <p:spPr>
            <a:xfrm>
              <a:off x="426720" y="1341120"/>
              <a:ext cx="3616960" cy="73152"/>
            </a:xfrm>
            <a:prstGeom prst="rect">
              <a:avLst/>
            </a:prstGeom>
            <a:solidFill>
              <a:srgbClr val="008658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4" name="Shape 19"/>
            <p:cNvSpPr/>
            <p:nvPr/>
          </p:nvSpPr>
          <p:spPr>
            <a:xfrm>
              <a:off x="3409696" y="1487424"/>
              <a:ext cx="463296" cy="463296"/>
            </a:xfrm>
            <a:prstGeom prst="ellipse">
              <a:avLst/>
            </a:prstGeom>
            <a:solidFill>
              <a:srgbClr val="008658"/>
            </a:solidFill>
            <a:ln w="12700">
              <a:solidFill>
                <a:srgbClr val="8E4B2C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5" name="Text 20"/>
            <p:cNvSpPr/>
            <p:nvPr/>
          </p:nvSpPr>
          <p:spPr>
            <a:xfrm>
              <a:off x="3409696" y="14996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3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6" name="Text 21"/>
            <p:cNvSpPr/>
            <p:nvPr/>
          </p:nvSpPr>
          <p:spPr>
            <a:xfrm>
              <a:off x="548640" y="14630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008658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تضارب المصالح</a:t>
              </a:r>
            </a:p>
          </p:txBody>
        </p:sp>
        <p:sp>
          <p:nvSpPr>
            <p:cNvPr id="67" name="Shape 22"/>
            <p:cNvSpPr/>
            <p:nvPr/>
          </p:nvSpPr>
          <p:spPr>
            <a:xfrm>
              <a:off x="548640" y="20116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8" name="Text 23"/>
            <p:cNvSpPr/>
            <p:nvPr/>
          </p:nvSpPr>
          <p:spPr>
            <a:xfrm>
              <a:off x="548640" y="20970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حالة تتعارض فيها المصلحة الشخصية مع المصلحة العامة – أنواعه: فعلي (حالي) ومحتمل (مستقبلي) – ليس خطأً بالضرورة لكنه يصبح خطراً إن لم يُفصح عنه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9" name="Shape 24"/>
            <p:cNvSpPr/>
            <p:nvPr/>
          </p:nvSpPr>
          <p:spPr>
            <a:xfrm>
              <a:off x="8148320" y="37795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0" name="Shape 25"/>
            <p:cNvSpPr/>
            <p:nvPr/>
          </p:nvSpPr>
          <p:spPr>
            <a:xfrm>
              <a:off x="8148320" y="3779520"/>
              <a:ext cx="3616960" cy="73152"/>
            </a:xfrm>
            <a:prstGeom prst="rect">
              <a:avLst/>
            </a:prstGeom>
            <a:solidFill>
              <a:srgbClr val="008658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1" name="Shape 26"/>
            <p:cNvSpPr/>
            <p:nvPr/>
          </p:nvSpPr>
          <p:spPr>
            <a:xfrm>
              <a:off x="11131296" y="3925824"/>
              <a:ext cx="463296" cy="463296"/>
            </a:xfrm>
            <a:prstGeom prst="ellipse">
              <a:avLst/>
            </a:prstGeom>
            <a:solidFill>
              <a:srgbClr val="008658"/>
            </a:solidFill>
            <a:ln w="12700">
              <a:solidFill>
                <a:srgbClr val="8E4B2C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2" name="Text 27"/>
            <p:cNvSpPr/>
            <p:nvPr/>
          </p:nvSpPr>
          <p:spPr>
            <a:xfrm>
              <a:off x="11131296" y="39380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4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3" name="Text 28"/>
            <p:cNvSpPr/>
            <p:nvPr/>
          </p:nvSpPr>
          <p:spPr>
            <a:xfrm>
              <a:off x="8270240" y="39014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008658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إطار الإدارة الأربعي</a:t>
              </a:r>
            </a:p>
          </p:txBody>
        </p:sp>
        <p:sp>
          <p:nvSpPr>
            <p:cNvPr id="74" name="Shape 29"/>
            <p:cNvSpPr/>
            <p:nvPr/>
          </p:nvSpPr>
          <p:spPr>
            <a:xfrm>
              <a:off x="8270240" y="44500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5" name="Text 30"/>
            <p:cNvSpPr/>
            <p:nvPr/>
          </p:nvSpPr>
          <p:spPr>
            <a:xfrm>
              <a:off x="8270240" y="45354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الإفصاح (إلزام الجميع) - التقييم (تحديد نوع التضارب) - المعالجة (تنحٍّ أو نقل صلاحية أو منع كامل) - التوثيق والمراقبة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6" name="Shape 31"/>
            <p:cNvSpPr/>
            <p:nvPr/>
          </p:nvSpPr>
          <p:spPr>
            <a:xfrm>
              <a:off x="4287520" y="37795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7" name="Shape 32"/>
            <p:cNvSpPr/>
            <p:nvPr/>
          </p:nvSpPr>
          <p:spPr>
            <a:xfrm>
              <a:off x="4287520" y="3779520"/>
              <a:ext cx="3616960" cy="73152"/>
            </a:xfrm>
            <a:prstGeom prst="rect">
              <a:avLst/>
            </a:prstGeom>
            <a:solidFill>
              <a:srgbClr val="008658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8" name="Shape 33"/>
            <p:cNvSpPr/>
            <p:nvPr/>
          </p:nvSpPr>
          <p:spPr>
            <a:xfrm>
              <a:off x="7270496" y="3925824"/>
              <a:ext cx="463296" cy="463296"/>
            </a:xfrm>
            <a:prstGeom prst="ellipse">
              <a:avLst/>
            </a:prstGeom>
            <a:solidFill>
              <a:srgbClr val="008658"/>
            </a:solidFill>
            <a:ln w="12700">
              <a:solidFill>
                <a:srgbClr val="8E4B2C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9" name="Text 34"/>
            <p:cNvSpPr/>
            <p:nvPr/>
          </p:nvSpPr>
          <p:spPr>
            <a:xfrm>
              <a:off x="7270496" y="39380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5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0" name="Text 35"/>
            <p:cNvSpPr/>
            <p:nvPr/>
          </p:nvSpPr>
          <p:spPr>
            <a:xfrm>
              <a:off x="4409440" y="39014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008658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النزاهة المؤسسية</a:t>
              </a:r>
            </a:p>
          </p:txBody>
        </p:sp>
        <p:sp>
          <p:nvSpPr>
            <p:cNvPr id="81" name="Shape 36"/>
            <p:cNvSpPr/>
            <p:nvPr/>
          </p:nvSpPr>
          <p:spPr>
            <a:xfrm>
              <a:off x="4409440" y="44500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2" name="Text 37"/>
            <p:cNvSpPr/>
            <p:nvPr/>
          </p:nvSpPr>
          <p:spPr>
            <a:xfrm>
              <a:off x="4409440" y="45354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سلوك مؤسسي مستمر يبدأ من الأعلى – Tone at the Top – مكوناتها: القيادة النموذجية، السياسات، قنوات الإبلاغ الآمنة، التوعية، الرقابة الداخلية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3" name="Shape 38"/>
            <p:cNvSpPr/>
            <p:nvPr/>
          </p:nvSpPr>
          <p:spPr>
            <a:xfrm>
              <a:off x="426720" y="3779520"/>
              <a:ext cx="3616960" cy="225552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4" name="Shape 39"/>
            <p:cNvSpPr/>
            <p:nvPr/>
          </p:nvSpPr>
          <p:spPr>
            <a:xfrm>
              <a:off x="426720" y="3779520"/>
              <a:ext cx="3616960" cy="73152"/>
            </a:xfrm>
            <a:prstGeom prst="rect">
              <a:avLst/>
            </a:prstGeom>
            <a:solidFill>
              <a:srgbClr val="008658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5" name="Shape 40"/>
            <p:cNvSpPr/>
            <p:nvPr/>
          </p:nvSpPr>
          <p:spPr>
            <a:xfrm>
              <a:off x="3409696" y="3925824"/>
              <a:ext cx="463296" cy="463296"/>
            </a:xfrm>
            <a:prstGeom prst="ellipse">
              <a:avLst/>
            </a:prstGeom>
            <a:solidFill>
              <a:srgbClr val="008658"/>
            </a:solidFill>
            <a:ln w="12700">
              <a:solidFill>
                <a:srgbClr val="8E4B2C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6" name="Text 41"/>
            <p:cNvSpPr/>
            <p:nvPr/>
          </p:nvSpPr>
          <p:spPr>
            <a:xfrm>
              <a:off x="3409696" y="3938016"/>
              <a:ext cx="463296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6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7" name="Text 42"/>
            <p:cNvSpPr/>
            <p:nvPr/>
          </p:nvSpPr>
          <p:spPr>
            <a:xfrm>
              <a:off x="548640" y="3901440"/>
              <a:ext cx="2763520" cy="51206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dirty="0">
                  <a:solidFill>
                    <a:srgbClr val="008658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أمثلة في القطاع الصحي</a:t>
              </a:r>
            </a:p>
          </p:txBody>
        </p:sp>
        <p:sp>
          <p:nvSpPr>
            <p:cNvPr id="88" name="Shape 43"/>
            <p:cNvSpPr/>
            <p:nvPr/>
          </p:nvSpPr>
          <p:spPr>
            <a:xfrm>
              <a:off x="548640" y="4450080"/>
              <a:ext cx="337312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9" name="Text 44"/>
            <p:cNvSpPr/>
            <p:nvPr/>
          </p:nvSpPr>
          <p:spPr>
            <a:xfrm>
              <a:off x="548640" y="4535424"/>
              <a:ext cx="3373120" cy="13411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عضو لجنة الشراء له مصلحة مع مورّد - إفصاح + استبعاد </a:t>
              </a:r>
            </a:p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طبيب يُحيل لجهة خاصة لديه فيها مصلحة - إشراف لجنة الأخلاقيات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862172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0EB8-9C3D-3803-FFE8-0249081D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FE4CBDA-9FC9-A897-CD8E-7623E89EF14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163" y="1489"/>
          <a:ext cx="1489" cy="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FE4CBDA-9FC9-A897-CD8E-7623E89EF1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63" y="1489"/>
                        <a:ext cx="1489" cy="1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6791DF1-8298-FF26-C511-496B2EDA98CE}"/>
              </a:ext>
            </a:extLst>
          </p:cNvPr>
          <p:cNvGrpSpPr/>
          <p:nvPr/>
        </p:nvGrpSpPr>
        <p:grpSpPr>
          <a:xfrm>
            <a:off x="365760" y="1330958"/>
            <a:ext cx="11460480" cy="4608576"/>
            <a:chOff x="365760" y="1280160"/>
            <a:chExt cx="11460480" cy="4608576"/>
          </a:xfrm>
        </p:grpSpPr>
        <p:sp>
          <p:nvSpPr>
            <p:cNvPr id="5" name="Shape 3"/>
            <p:cNvSpPr/>
            <p:nvPr/>
          </p:nvSpPr>
          <p:spPr>
            <a:xfrm>
              <a:off x="6205728" y="1280160"/>
              <a:ext cx="5620512" cy="2218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Shape 4"/>
            <p:cNvSpPr/>
            <p:nvPr/>
          </p:nvSpPr>
          <p:spPr>
            <a:xfrm>
              <a:off x="6205728" y="1280160"/>
              <a:ext cx="5620512" cy="85344"/>
            </a:xfrm>
            <a:prstGeom prst="rect">
              <a:avLst/>
            </a:prstGeom>
            <a:solidFill>
              <a:srgbClr val="B8963E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11277600" y="1402080"/>
              <a:ext cx="414528" cy="414528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1277600" y="1402080"/>
              <a:ext cx="414528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1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303264" y="1402080"/>
              <a:ext cx="491337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154F31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السيناريو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6303264" y="1914144"/>
              <a:ext cx="542544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6303264" y="1987296"/>
              <a:ext cx="5425440" cy="13655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موظف في لجنة شراء أجهزة طبية لديه أسهم أو مصلحة تجارية مع إحدى الشركات المتنافسة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65760" y="1280160"/>
              <a:ext cx="5620512" cy="2218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65760" y="1280160"/>
              <a:ext cx="5620512" cy="85344"/>
            </a:xfrm>
            <a:prstGeom prst="rect">
              <a:avLst/>
            </a:prstGeom>
            <a:solidFill>
              <a:srgbClr val="B8963E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5437632" y="1402080"/>
              <a:ext cx="414528" cy="414528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437632" y="1402080"/>
              <a:ext cx="414528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2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463296" y="1402080"/>
              <a:ext cx="491337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154F31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تحديد المخالفة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63296" y="1914144"/>
              <a:ext cx="542544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463296" y="1987296"/>
              <a:ext cx="5425440" cy="13655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هل هو تضارب فعلي (حالي) أم محتمل (مستقبلي)؟ تضارب مصالح / إخلال بالحياد / استغلال نفوذ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6205728" y="3669792"/>
              <a:ext cx="5620512" cy="2218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205728" y="3669792"/>
              <a:ext cx="5620512" cy="85344"/>
            </a:xfrm>
            <a:prstGeom prst="rect">
              <a:avLst/>
            </a:prstGeom>
            <a:solidFill>
              <a:srgbClr val="B8963E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1277600" y="3791712"/>
              <a:ext cx="414528" cy="414528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1277600" y="3791712"/>
              <a:ext cx="414528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3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303264" y="3791712"/>
              <a:ext cx="491337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154F31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الإجراء الصحيح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303264" y="4303776"/>
              <a:ext cx="542544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303264" y="4376928"/>
              <a:ext cx="5425440" cy="13655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الإفصاح - التنحي عن القرار - توثيق الحالة - إشراف لجنة الامتثال والأخلاقيات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365760" y="3669792"/>
              <a:ext cx="5620512" cy="2218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365760" y="3669792"/>
              <a:ext cx="5620512" cy="85344"/>
            </a:xfrm>
            <a:prstGeom prst="rect">
              <a:avLst/>
            </a:prstGeom>
            <a:solidFill>
              <a:srgbClr val="B8963E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5437632" y="3791712"/>
              <a:ext cx="414528" cy="414528"/>
            </a:xfrm>
            <a:prstGeom prst="rect">
              <a:avLst/>
            </a:prstGeom>
            <a:solidFill>
              <a:srgbClr val="B8963E"/>
            </a:solidFill>
            <a:ln w="12700">
              <a:solidFill>
                <a:srgbClr val="B8963E"/>
              </a:solidFill>
              <a:prstDash val="solid"/>
            </a:ln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5437632" y="3791712"/>
              <a:ext cx="414528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ar-EG" sz="2000" b="1" noProof="0" dirty="0">
                  <a:solidFill>
                    <a:srgbClr val="FFFFFF"/>
                  </a:solidFill>
                  <a:latin typeface="Sakkal Majalla" panose="02000000000000000000" pitchFamily="2" charset="-78"/>
                  <a:ea typeface="Calibri" pitchFamily="34" charset="-122"/>
                  <a:cs typeface="Sakkal Majalla" panose="02000000000000000000" pitchFamily="2" charset="-78"/>
                </a:rPr>
                <a:t>4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463296" y="3791712"/>
              <a:ext cx="4913376" cy="4632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r" rtl="1"/>
              <a:r>
                <a:rPr lang="ar-EG" sz="2000" b="1" noProof="0" dirty="0">
                  <a:solidFill>
                    <a:srgbClr val="154F31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نقاط للنقاش</a:t>
              </a:r>
              <a:endParaRPr lang="ar-EG" sz="20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463296" y="4303776"/>
              <a:ext cx="5425440" cy="24384"/>
            </a:xfrm>
            <a:prstGeom prst="rect">
              <a:avLst/>
            </a:prstGeom>
            <a:solidFill>
              <a:srgbClr val="E0E8E4"/>
            </a:solidFill>
            <a:ln/>
          </p:spPr>
          <p:txBody>
            <a:bodyPr/>
            <a:lstStyle/>
            <a:p>
              <a:endParaRPr lang="ar-EG" sz="3200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463296" y="4376928"/>
              <a:ext cx="5425440" cy="136550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r" rtl="1"/>
              <a:r>
                <a:rPr lang="ar-EG" noProof="0" dirty="0">
                  <a:solidFill>
                    <a:srgbClr val="1C2B22"/>
                  </a:solidFill>
                  <a:latin typeface="Sakkal Majalla" panose="02000000000000000000" pitchFamily="2" charset="-78"/>
                  <a:ea typeface="Arial" pitchFamily="34" charset="-122"/>
                  <a:cs typeface="Sakkal Majalla" panose="02000000000000000000" pitchFamily="2" charset="-78"/>
                </a:rPr>
                <a:t>هل يكفي الإفصاح وحده؟ ما آليات الحماية المؤسسية الواجب تفعيلها؟ كيف نضمن أن الامتثال ليس شكلياً؟</a:t>
              </a:r>
              <a:endParaRPr lang="ar-EG" noProof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7098029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E4519A-FC99-461C-A05B-A65FE42BDAB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3bc9e8d-157e-4521-9a47-a576f45f96e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698</Words>
  <Application>Microsoft Office PowerPoint</Application>
  <PresentationFormat>Widescreen</PresentationFormat>
  <Paragraphs>114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Sakkal Majalla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Mdawi AL-Jameel</dc:creator>
  <cp:lastModifiedBy>Mdawi AL-Jameel</cp:lastModifiedBy>
  <cp:revision>2</cp:revision>
  <dcterms:created xsi:type="dcterms:W3CDTF">2026-07-02T16:11:42Z</dcterms:created>
  <dcterms:modified xsi:type="dcterms:W3CDTF">2026-07-02T17:48:26Z</dcterms:modified>
</cp:coreProperties>
</file>